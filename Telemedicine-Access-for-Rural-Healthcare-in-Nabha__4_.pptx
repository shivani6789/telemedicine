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690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Telemedicine Access for Rural Healthcare in Nabha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267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 Statement ID: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25018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94477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Thrust Area: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Mobile/Web application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64784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Team Members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6280190" y="5413296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1602-23-737-172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Shivani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1602-23-737-318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Vyshnavi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1602-23-737-159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Pragathi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83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4075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173 villages in the Nabha region face severe healthcare access challenges that disproportionately affect daily wage earners, farmers, and elderly populations.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21712"/>
            <a:ext cx="4196358" cy="2032754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4485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Specialist Shortage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93894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Limited availability of qualified doctors and specialists in rural PHCs and sub-centers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221712"/>
            <a:ext cx="4196358" cy="2032754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34485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Travel Burden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393894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Patients travel 20-50 km to district hospitals only to find specialists unavailable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221712"/>
            <a:ext cx="4196358" cy="2032754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34485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Wage Loss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393894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Daily workers lose ₹300-500 per trip when appointments are missed or medicines unavailable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481280"/>
            <a:ext cx="6407944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14" name="Text 12"/>
          <p:cNvSpPr/>
          <p:nvPr/>
        </p:nvSpPr>
        <p:spPr>
          <a:xfrm>
            <a:off x="1020604" y="5708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Medicine Gaps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0604" y="619851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Inconsistent drug supply at local facilities forces additional trips to pharmacies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481280"/>
            <a:ext cx="6407944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17" name="Text 15"/>
          <p:cNvSpPr/>
          <p:nvPr/>
        </p:nvSpPr>
        <p:spPr>
          <a:xfrm>
            <a:off x="7655362" y="5708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 Records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55362" y="619851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Lack of digital medical records prevents continuity of care and treatment tracking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9968"/>
            <a:ext cx="56964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Motivation &amp; Context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6237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Rural healthcare delivery in India faces systemic challenges. With over 65% of India's population residing in rural areas, the doctor-to-patient ratio remains critically low at 1:1,456 against WHO recommendations.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843332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COVID-19 pandemic accelerated telemedicine adoption, yet existing solutions remain urban-focused. Nabha's 173 villages lack region-specific telemedicine infrastructure, forcing patients into a cycle of travel, wage loss, and delayed treatment.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8719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Early diagnosis and timely intervention can prevent complications, reduce hospitalizations, and save lives. A rural-first telemedicine platform addresses this critical gap.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8149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65%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1455420" y="6313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Rural Population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680370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India's rural demographic requiring healthcare access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35893" y="528149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1:1,456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5897523" y="6313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Doctor-Patient Ratio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35893" y="680370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Above WHO recommended standards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77995" y="528149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20-50km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339626" y="6313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Average Travel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77995" y="680370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Distance to district hospitals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11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Abstract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1356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telemedicine-first mobile application addresses rural healthcare access challenges in Nabha's 173 villages through a comprehensive digital health platform.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945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149560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323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814286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Enable appointment-based remote consultations, symptom guidance, digital health records, and real-time medicine availability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8548" y="279451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149560"/>
            <a:ext cx="6408063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0" name="Text 8"/>
          <p:cNvSpPr/>
          <p:nvPr/>
        </p:nvSpPr>
        <p:spPr>
          <a:xfrm>
            <a:off x="7428548" y="33238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Identified Gap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28548" y="3814286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Existing telemedicine solutions lack rural-first design, low-bandwidth optimization, and integrated pharmacy systems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29982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654873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58291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6319599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Unified mobile platform with adaptive video consultation, rule-based symptom checker, and real-time drug inventory tracking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8548" y="529982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654873"/>
            <a:ext cx="6408063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7428548" y="58291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Expected Impact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8548" y="6319599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Reduce unnecessary hospital visits by 60%, save 2-3 hours per consultation, and minimize wage loss for rural patients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8660"/>
            <a:ext cx="755201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Existing Solutions &amp; Gap Analysis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376601"/>
            <a:ext cx="3425071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Current Market Solutions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93790" y="1983819"/>
            <a:ext cx="13042821" cy="2003108"/>
          </a:xfrm>
          <a:prstGeom prst="roundRect">
            <a:avLst>
              <a:gd name="adj" fmla="val 866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1991439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4291" y="2097286"/>
            <a:ext cx="35188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Platform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06328" y="2097286"/>
            <a:ext cx="416647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65945" y="2097286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 Audience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410" y="2488406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4291" y="2594253"/>
            <a:ext cx="35188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eSanjeevani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06328" y="2594253"/>
            <a:ext cx="416647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Government telemedicine portal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65945" y="2594253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Urban &amp; semi-urban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1410" y="2985373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4291" y="3091220"/>
            <a:ext cx="35188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Practo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06328" y="3091220"/>
            <a:ext cx="416647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Multi-specialty appointments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65945" y="3091220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Urban professionals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1410" y="3482340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4291" y="3588187"/>
            <a:ext cx="35188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Apollo TeleHealth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06328" y="3588187"/>
            <a:ext cx="416647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Enterprise healthcare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65945" y="3588187"/>
            <a:ext cx="417028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Private patients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3790" y="4232672"/>
            <a:ext cx="461414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Gap Identified in Existing Systems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793790" y="4839891"/>
            <a:ext cx="6439495" cy="1115973"/>
          </a:xfrm>
          <a:prstGeom prst="roundRect">
            <a:avLst>
              <a:gd name="adj" fmla="val 983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0930" y="4839891"/>
            <a:ext cx="91440" cy="1115973"/>
          </a:xfrm>
          <a:prstGeom prst="roundRect">
            <a:avLst>
              <a:gd name="adj" fmla="val 189767"/>
            </a:avLst>
          </a:prstGeom>
          <a:solidFill>
            <a:srgbClr val="84C1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77992" y="505551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 Rural-First UX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1077992" y="5454968"/>
            <a:ext cx="59396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Complex interfaces unsuitable for low digital literacy users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97115" y="4839891"/>
            <a:ext cx="6439495" cy="1115973"/>
          </a:xfrm>
          <a:prstGeom prst="roundRect">
            <a:avLst>
              <a:gd name="adj" fmla="val 9832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74255" y="4839891"/>
            <a:ext cx="91440" cy="1115973"/>
          </a:xfrm>
          <a:prstGeom prst="roundRect">
            <a:avLst>
              <a:gd name="adj" fmla="val 189767"/>
            </a:avLst>
          </a:prstGeom>
          <a:solidFill>
            <a:srgbClr val="84C1FA"/>
          </a:solidFill>
          <a:ln/>
        </p:spPr>
      </p:sp>
      <p:sp>
        <p:nvSpPr>
          <p:cNvPr id="28" name="Text 26"/>
          <p:cNvSpPr/>
          <p:nvPr/>
        </p:nvSpPr>
        <p:spPr>
          <a:xfrm>
            <a:off x="7681317" y="5055513"/>
            <a:ext cx="368688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 Low-Bandwidth Optimization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7681317" y="5454968"/>
            <a:ext cx="59396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Requires stable high-speed internet unavailable in rural areas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93790" y="6119693"/>
            <a:ext cx="6439495" cy="1401247"/>
          </a:xfrm>
          <a:prstGeom prst="roundRect">
            <a:avLst>
              <a:gd name="adj" fmla="val 7831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0930" y="6119693"/>
            <a:ext cx="91440" cy="1401247"/>
          </a:xfrm>
          <a:prstGeom prst="roundRect">
            <a:avLst>
              <a:gd name="adj" fmla="val 189767"/>
            </a:avLst>
          </a:prstGeom>
          <a:solidFill>
            <a:srgbClr val="84C1FA"/>
          </a:solidFill>
          <a:ln/>
        </p:spPr>
      </p:sp>
      <p:sp>
        <p:nvSpPr>
          <p:cNvPr id="32" name="Text 30"/>
          <p:cNvSpPr/>
          <p:nvPr/>
        </p:nvSpPr>
        <p:spPr>
          <a:xfrm>
            <a:off x="1077992" y="6335316"/>
            <a:ext cx="27106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 Medicine Integration</a:t>
            </a:r>
            <a:endParaRPr lang="en-US" sz="1850" dirty="0"/>
          </a:p>
        </p:txBody>
      </p:sp>
      <p:sp>
        <p:nvSpPr>
          <p:cNvPr id="33" name="Text 31"/>
          <p:cNvSpPr/>
          <p:nvPr/>
        </p:nvSpPr>
        <p:spPr>
          <a:xfrm>
            <a:off x="1077992" y="6734770"/>
            <a:ext cx="593967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Lacks real-time pharmacy inventory tracking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97115" y="6119693"/>
            <a:ext cx="6439495" cy="1401247"/>
          </a:xfrm>
          <a:prstGeom prst="roundRect">
            <a:avLst>
              <a:gd name="adj" fmla="val 7831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74255" y="6119693"/>
            <a:ext cx="91440" cy="1401247"/>
          </a:xfrm>
          <a:prstGeom prst="roundRect">
            <a:avLst>
              <a:gd name="adj" fmla="val 189767"/>
            </a:avLst>
          </a:prstGeom>
          <a:solidFill>
            <a:srgbClr val="84C1FA"/>
          </a:solidFill>
          <a:ln/>
        </p:spPr>
      </p:sp>
      <p:sp>
        <p:nvSpPr>
          <p:cNvPr id="36" name="Text 34"/>
          <p:cNvSpPr/>
          <p:nvPr/>
        </p:nvSpPr>
        <p:spPr>
          <a:xfrm>
            <a:off x="7681317" y="6335316"/>
            <a:ext cx="24201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 Local Deployment</a:t>
            </a:r>
            <a:endParaRPr lang="en-US" sz="1850" dirty="0"/>
          </a:p>
        </p:txBody>
      </p:sp>
      <p:sp>
        <p:nvSpPr>
          <p:cNvPr id="37" name="Text 35"/>
          <p:cNvSpPr/>
          <p:nvPr/>
        </p:nvSpPr>
        <p:spPr>
          <a:xfrm>
            <a:off x="7681317" y="6734770"/>
            <a:ext cx="593967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Generic models not customized for Nabha's specific healthcare infrastructure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627578"/>
            <a:ext cx="5663089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Features &amp; Technology Stack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81526" y="1118354"/>
            <a:ext cx="217729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Features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81526" y="1529834"/>
            <a:ext cx="6487239" cy="1291471"/>
          </a:xfrm>
          <a:prstGeom prst="roundRect">
            <a:avLst>
              <a:gd name="adj" fmla="val 10115"/>
            </a:avLst>
          </a:prstGeom>
          <a:solidFill>
            <a:srgbClr val="CEE6FD"/>
          </a:solidFill>
          <a:ln/>
        </p:spPr>
      </p:sp>
      <p:sp>
        <p:nvSpPr>
          <p:cNvPr id="5" name="Shape 3"/>
          <p:cNvSpPr/>
          <p:nvPr/>
        </p:nvSpPr>
        <p:spPr>
          <a:xfrm>
            <a:off x="926663" y="1674971"/>
            <a:ext cx="435412" cy="435412"/>
          </a:xfrm>
          <a:prstGeom prst="roundRect">
            <a:avLst>
              <a:gd name="adj" fmla="val 20998699"/>
            </a:avLst>
          </a:prstGeom>
          <a:solidFill>
            <a:srgbClr val="84C1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6440" y="1794748"/>
            <a:ext cx="195858" cy="195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6663" y="2203252"/>
            <a:ext cx="24882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Online Appointment Booking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26663" y="2485787"/>
            <a:ext cx="6196965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Schedule consultations within 2 minutes with doctor availability visibility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61634" y="1529834"/>
            <a:ext cx="6487239" cy="1291471"/>
          </a:xfrm>
          <a:prstGeom prst="roundRect">
            <a:avLst>
              <a:gd name="adj" fmla="val 10115"/>
            </a:avLst>
          </a:prstGeom>
          <a:solidFill>
            <a:srgbClr val="CEE6FD"/>
          </a:solidFill>
          <a:ln/>
        </p:spPr>
      </p:sp>
      <p:sp>
        <p:nvSpPr>
          <p:cNvPr id="10" name="Shape 7"/>
          <p:cNvSpPr/>
          <p:nvPr/>
        </p:nvSpPr>
        <p:spPr>
          <a:xfrm>
            <a:off x="7506772" y="1674971"/>
            <a:ext cx="435412" cy="435412"/>
          </a:xfrm>
          <a:prstGeom prst="roundRect">
            <a:avLst>
              <a:gd name="adj" fmla="val 20998699"/>
            </a:avLst>
          </a:prstGeom>
          <a:solidFill>
            <a:srgbClr val="84C1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6548" y="1794748"/>
            <a:ext cx="195858" cy="195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06772" y="2203252"/>
            <a:ext cx="30324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Low-Bandwidth Video Consultation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506772" y="2485787"/>
            <a:ext cx="6196965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Adaptive bitrate video calls optimized for 2G/3G networks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81526" y="2914174"/>
            <a:ext cx="6487239" cy="1291471"/>
          </a:xfrm>
          <a:prstGeom prst="roundRect">
            <a:avLst>
              <a:gd name="adj" fmla="val 10115"/>
            </a:avLst>
          </a:prstGeom>
          <a:solidFill>
            <a:srgbClr val="CEE6FD"/>
          </a:solidFill>
          <a:ln/>
        </p:spPr>
      </p:sp>
      <p:sp>
        <p:nvSpPr>
          <p:cNvPr id="15" name="Shape 11"/>
          <p:cNvSpPr/>
          <p:nvPr/>
        </p:nvSpPr>
        <p:spPr>
          <a:xfrm>
            <a:off x="926663" y="3059311"/>
            <a:ext cx="435412" cy="435412"/>
          </a:xfrm>
          <a:prstGeom prst="roundRect">
            <a:avLst>
              <a:gd name="adj" fmla="val 20998699"/>
            </a:avLst>
          </a:prstGeom>
          <a:solidFill>
            <a:srgbClr val="84C1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440" y="3179088"/>
            <a:ext cx="195858" cy="195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6663" y="3587591"/>
            <a:ext cx="18965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Digital Health Records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26663" y="3870127"/>
            <a:ext cx="6196965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medical history retrieval within 5 seconds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61634" y="2914174"/>
            <a:ext cx="6487239" cy="1291471"/>
          </a:xfrm>
          <a:prstGeom prst="roundRect">
            <a:avLst>
              <a:gd name="adj" fmla="val 10115"/>
            </a:avLst>
          </a:prstGeom>
          <a:solidFill>
            <a:srgbClr val="CEE6FD"/>
          </a:solidFill>
          <a:ln/>
        </p:spPr>
      </p:sp>
      <p:sp>
        <p:nvSpPr>
          <p:cNvPr id="20" name="Shape 15"/>
          <p:cNvSpPr/>
          <p:nvPr/>
        </p:nvSpPr>
        <p:spPr>
          <a:xfrm>
            <a:off x="7506772" y="3059311"/>
            <a:ext cx="435412" cy="435412"/>
          </a:xfrm>
          <a:prstGeom prst="roundRect">
            <a:avLst>
              <a:gd name="adj" fmla="val 20998699"/>
            </a:avLst>
          </a:prstGeom>
          <a:solidFill>
            <a:srgbClr val="84C1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6548" y="3179088"/>
            <a:ext cx="195858" cy="195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06772" y="3587591"/>
            <a:ext cx="195572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E-Prescription with QR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506772" y="3870127"/>
            <a:ext cx="6196965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Verified prescriptions with pharmacy integration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81526" y="4298513"/>
            <a:ext cx="6487239" cy="1291471"/>
          </a:xfrm>
          <a:prstGeom prst="roundRect">
            <a:avLst>
              <a:gd name="adj" fmla="val 10115"/>
            </a:avLst>
          </a:prstGeom>
          <a:solidFill>
            <a:srgbClr val="CEE6FD"/>
          </a:solidFill>
          <a:ln/>
        </p:spPr>
      </p:sp>
      <p:sp>
        <p:nvSpPr>
          <p:cNvPr id="25" name="Shape 19"/>
          <p:cNvSpPr/>
          <p:nvPr/>
        </p:nvSpPr>
        <p:spPr>
          <a:xfrm>
            <a:off x="926663" y="4443651"/>
            <a:ext cx="435412" cy="435412"/>
          </a:xfrm>
          <a:prstGeom prst="roundRect">
            <a:avLst>
              <a:gd name="adj" fmla="val 20998699"/>
            </a:avLst>
          </a:prstGeom>
          <a:solidFill>
            <a:srgbClr val="84C1F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440" y="4563428"/>
            <a:ext cx="195858" cy="1958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6663" y="4971931"/>
            <a:ext cx="18143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Medicine Availability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26663" y="5254466"/>
            <a:ext cx="6196965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tracking across local pharmacies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361634" y="4298513"/>
            <a:ext cx="6487239" cy="1291471"/>
          </a:xfrm>
          <a:prstGeom prst="roundRect">
            <a:avLst>
              <a:gd name="adj" fmla="val 10115"/>
            </a:avLst>
          </a:prstGeom>
          <a:solidFill>
            <a:srgbClr val="CEE6FD"/>
          </a:solidFill>
          <a:ln/>
        </p:spPr>
      </p:sp>
      <p:sp>
        <p:nvSpPr>
          <p:cNvPr id="30" name="Shape 23"/>
          <p:cNvSpPr/>
          <p:nvPr/>
        </p:nvSpPr>
        <p:spPr>
          <a:xfrm>
            <a:off x="7506772" y="4443651"/>
            <a:ext cx="435412" cy="435412"/>
          </a:xfrm>
          <a:prstGeom prst="roundRect">
            <a:avLst>
              <a:gd name="adj" fmla="val 20998699"/>
            </a:avLst>
          </a:prstGeom>
          <a:solidFill>
            <a:srgbClr val="84C1F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6548" y="4563428"/>
            <a:ext cx="195858" cy="19585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06772" y="4971931"/>
            <a:ext cx="18143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Priority System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506772" y="5254466"/>
            <a:ext cx="6196965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Emergency consultation queue for critical cases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781526" y="5729288"/>
            <a:ext cx="217729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35" name="Text 27"/>
          <p:cNvSpPr/>
          <p:nvPr/>
        </p:nvSpPr>
        <p:spPr>
          <a:xfrm>
            <a:off x="781526" y="6233636"/>
            <a:ext cx="18143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Frontend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781526" y="6553319"/>
            <a:ext cx="4119205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Flutter (Mobile App)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781526" y="6836569"/>
            <a:ext cx="18143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Backend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781526" y="7156252"/>
            <a:ext cx="4119205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 + Express.js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262443" y="6233636"/>
            <a:ext cx="18143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Database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5262443" y="6553319"/>
            <a:ext cx="4119205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MongoDB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5262443" y="6836569"/>
            <a:ext cx="18143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Video Layer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5262443" y="7156252"/>
            <a:ext cx="4119205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WebRTC-based service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9743361" y="6233636"/>
            <a:ext cx="18143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Security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743361" y="6553319"/>
            <a:ext cx="4119205" cy="413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OTP + JWT Authentication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Role-based access control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9743361" y="7059454"/>
            <a:ext cx="18143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9743361" y="7379137"/>
            <a:ext cx="4119205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Push notification service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7350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Architecture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430298"/>
            <a:ext cx="130428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system follows a scalable three-tier architecture with secure authentication and encrypted data storage. Patient consultations flow through the mobile app to backend APIs, store in MongoDB, and enable doctor access with real-time prescription delivery.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021" y="2050018"/>
            <a:ext cx="9728359" cy="54721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7489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Feasibility &amp; Viability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797606"/>
            <a:ext cx="4238387" cy="1926074"/>
          </a:xfrm>
          <a:prstGeom prst="roundRect">
            <a:avLst>
              <a:gd name="adj" fmla="val 9009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986552" y="199036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Technical Feasibility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986552" y="2389823"/>
            <a:ext cx="3852863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Uses widely adopted, stable technologies with no specialized hardware required. Cloud-based deployment ensures scalability.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96007" y="1797606"/>
            <a:ext cx="4238387" cy="1926074"/>
          </a:xfrm>
          <a:prstGeom prst="roundRect">
            <a:avLst>
              <a:gd name="adj" fmla="val 9009"/>
            </a:avLst>
          </a:prstGeom>
          <a:solidFill>
            <a:srgbClr val="CEE6FD"/>
          </a:solidFill>
          <a:ln/>
        </p:spPr>
      </p:sp>
      <p:sp>
        <p:nvSpPr>
          <p:cNvPr id="7" name="Text 5"/>
          <p:cNvSpPr/>
          <p:nvPr/>
        </p:nvSpPr>
        <p:spPr>
          <a:xfrm>
            <a:off x="5388769" y="1990368"/>
            <a:ext cx="253996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Operational Feasibility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388769" y="2389823"/>
            <a:ext cx="3852863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Appointment-based model optimizes limited doctor availability. Simple interface with minimal steps and regional language support.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598223" y="1797606"/>
            <a:ext cx="4238387" cy="1926074"/>
          </a:xfrm>
          <a:prstGeom prst="roundRect">
            <a:avLst>
              <a:gd name="adj" fmla="val 9009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/>
          <p:nvPr/>
        </p:nvSpPr>
        <p:spPr>
          <a:xfrm>
            <a:off x="9790986" y="199036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Economic Feasibility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790986" y="2389823"/>
            <a:ext cx="3852863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 development and deployment cost suitable for phased rollout. Government healthcare integration reduces operational expenses.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3790" y="3969425"/>
            <a:ext cx="454616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Potential Challenges &amp; Mitigation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793790" y="4576643"/>
            <a:ext cx="13042821" cy="2785348"/>
          </a:xfrm>
          <a:prstGeom prst="roundRect">
            <a:avLst>
              <a:gd name="adj" fmla="val 623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410" y="4584263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94172" y="4690110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11772" y="4690110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Mitigation Strategy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1410" y="5081230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4172" y="5187077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 digital literacy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11772" y="5187077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Simple UI with large icons, minimal text, voice guidance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1410" y="5578197"/>
            <a:ext cx="13027581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4172" y="5684044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Internet connectivity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11772" y="5684044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Low-bandwidth symptom checker, offline mode for records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1410" y="6075164"/>
            <a:ext cx="13027581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94172" y="6181011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Doctor availability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11772" y="6181011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Appointment scheduling, priority queue for emergencies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1410" y="6572131"/>
            <a:ext cx="13027581" cy="7822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94172" y="6677978"/>
            <a:ext cx="61244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security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11772" y="6677978"/>
            <a:ext cx="612445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authentication, encrypted data storage, compliance with telemedicine guidelines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13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Impact &amp; Benefits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371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Impact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89233"/>
            <a:ext cx="6244709" cy="329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Reduced unnecessary hospital visits and long-distance travel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Minimized wage loss for daily workers and farmers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Improved utilization of limited healthcare staff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Virtual consultations alleviate pressure on overburdened facilities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Continuity of care through digital records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Proven model adaptable to other rural communities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7371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Benefits 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389233"/>
            <a:ext cx="6244709" cy="32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Quick medical guidance reduces treatment delays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drug availability ensures prompt medication access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medical history tracking prevents treatment gaps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Appointment visibility prevents wasted trips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Low-bandwidth video enables consultations from remote areas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3031"/>
            <a:ext cx="61414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Research &amp; References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391972"/>
            <a:ext cx="7556421" cy="24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Government of India – Telemedicine Practice Guidelines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Rural healthcare accessibility reports (Punjab Health Statistics)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Studies on telemedicine adoption in India (2020–2025)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WHO digital health and telemedicine frameworks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Academic literature on mobile health systems and rural healthcare delivery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2026-02-28T02:52:20Z</dcterms:created>
  <dcterms:modified xsi:type="dcterms:W3CDTF">2026-02-28T02:52:20Z</dcterms:modified>
</cp:coreProperties>
</file>